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Public Sans Medium"/>
      <p:regular r:id="rId32"/>
      <p:bold r:id="rId33"/>
      <p:italic r:id="rId34"/>
      <p:boldItalic r:id="rId35"/>
    </p:embeddedFont>
    <p:embeddedFont>
      <p:font typeface="Public Sans"/>
      <p:regular r:id="rId36"/>
      <p:bold r:id="rId37"/>
      <p:italic r:id="rId38"/>
      <p:boldItalic r:id="rId39"/>
    </p:embeddedFont>
    <p:embeddedFont>
      <p:font typeface="Public Sans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ublicSansLight-regular.fntdata"/><Relationship Id="rId20" Type="http://schemas.openxmlformats.org/officeDocument/2006/relationships/slide" Target="slides/slide15.xml"/><Relationship Id="rId42" Type="http://schemas.openxmlformats.org/officeDocument/2006/relationships/font" Target="fonts/PublicSansLight-italic.fntdata"/><Relationship Id="rId41" Type="http://schemas.openxmlformats.org/officeDocument/2006/relationships/font" Target="fonts/PublicSansLight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PublicSansLigh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ublicSansMedium-bold.fntdata"/><Relationship Id="rId10" Type="http://schemas.openxmlformats.org/officeDocument/2006/relationships/slide" Target="slides/slide5.xml"/><Relationship Id="rId32" Type="http://schemas.openxmlformats.org/officeDocument/2006/relationships/font" Target="fonts/PublicSa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ublicSa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ublicSansMedium-italic.fntdata"/><Relationship Id="rId15" Type="http://schemas.openxmlformats.org/officeDocument/2006/relationships/slide" Target="slides/slide10.xml"/><Relationship Id="rId37" Type="http://schemas.openxmlformats.org/officeDocument/2006/relationships/font" Target="fonts/PublicSans-bold.fntdata"/><Relationship Id="rId14" Type="http://schemas.openxmlformats.org/officeDocument/2006/relationships/slide" Target="slides/slide9.xml"/><Relationship Id="rId36" Type="http://schemas.openxmlformats.org/officeDocument/2006/relationships/font" Target="fonts/PublicSans-regular.fntdata"/><Relationship Id="rId17" Type="http://schemas.openxmlformats.org/officeDocument/2006/relationships/slide" Target="slides/slide12.xml"/><Relationship Id="rId39" Type="http://schemas.openxmlformats.org/officeDocument/2006/relationships/font" Target="fonts/Public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Public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2f850619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2f850619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f850619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2f850619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2f850619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2f850619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850619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850619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2f850619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2f850619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2f850619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2f850619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2f850619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2f850619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2f850619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2f850619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2f850619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2f850619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39a1cdc6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39a1cdc6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2f8506198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2f8506198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2f850619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2f850619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39a1cdc6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39a1cdc6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39a1cdc6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39a1cdc6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2f8506198_0_1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2f8506198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39a1cdc6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39a1cdc6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39a1cdc6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39a1cdc6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2f8506198_0_1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2f8506198_0_1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39a1cdc6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39a1cdc6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2f850619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2f850619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4bdd22d51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4bdd22d5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39a1cdc6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39a1cdc6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39a1cdc6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a39a1cdc6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4bdd22d51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4bdd22d51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2f8506198_0_1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a2f8506198_0_1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_1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3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" name="Google Shape;63;p13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5" name="Google Shape;65;p13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3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_1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4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" name="Google Shape;79;p14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4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4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4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" name="Google Shape;83;p14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5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5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15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0" name="Google Shape;100;p15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5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" name="Google Shape;103;p15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1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6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2" name="Google Shape;112;p16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6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16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" name="Google Shape;119;p16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" name="Google Shape;120;p1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investopedia.com/terms/e/inelastic.asp" TargetMode="External"/><Relationship Id="rId10" Type="http://schemas.openxmlformats.org/officeDocument/2006/relationships/hyperlink" Target="https://www.investopedia.com/terms/e/inelastic.asp" TargetMode="External"/><Relationship Id="rId13" Type="http://schemas.openxmlformats.org/officeDocument/2006/relationships/hyperlink" Target="https://chat.openai.com/" TargetMode="External"/><Relationship Id="rId1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eia.gov/dnav/pet/pet_cons_psup_a_epm0f_vpp_mbbl_m.htm" TargetMode="External"/><Relationship Id="rId4" Type="http://schemas.openxmlformats.org/officeDocument/2006/relationships/hyperlink" Target="https://www.eia.gov/dnav/pet/pet_cons_psup_a_epm0f_vpp_mbbl_m.htm" TargetMode="External"/><Relationship Id="rId9" Type="http://schemas.openxmlformats.org/officeDocument/2006/relationships/hyperlink" Target="https://fred.stlouisfed.org/series/CPIAUCSL" TargetMode="External"/><Relationship Id="rId5" Type="http://schemas.openxmlformats.org/officeDocument/2006/relationships/hyperlink" Target="https://www.eia.gov/dnav/pet/pet_pri_gnd_dcus_nus_m.htm" TargetMode="External"/><Relationship Id="rId6" Type="http://schemas.openxmlformats.org/officeDocument/2006/relationships/hyperlink" Target="https://www.eia.gov/dnav/pet/pet_pri_gnd_dcus_nus_m.htm" TargetMode="External"/><Relationship Id="rId7" Type="http://schemas.openxmlformats.org/officeDocument/2006/relationships/hyperlink" Target="https://www.eia.gov/dnav/pet/pet_pri_gnd_dcus_nus_m.htm" TargetMode="External"/><Relationship Id="rId8" Type="http://schemas.openxmlformats.org/officeDocument/2006/relationships/hyperlink" Target="https://fred.stlouisfed.org/series/CPIAUCS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00175" y="414225"/>
            <a:ext cx="8245200" cy="24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The Effect of Gas Prices on U.S. Gas Consumption</a:t>
            </a:r>
            <a:endParaRPr b="1" sz="5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97425" y="1857225"/>
            <a:ext cx="4086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By: Nikolas Lee-Bishop</a:t>
            </a:r>
            <a:endParaRPr sz="25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922" y="2508870"/>
            <a:ext cx="5006027" cy="239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3925" y="2508877"/>
            <a:ext cx="5006027" cy="239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399900" y="365775"/>
            <a:ext cx="8344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Index &amp; Content</a:t>
            </a:r>
            <a:endParaRPr sz="6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399900" y="1473400"/>
            <a:ext cx="6060600" cy="2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ublic Sans"/>
              <a:buAutoNum type="arabicPeriod"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Dataset Selection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ublic Sans"/>
              <a:buAutoNum type="arabicPeriod"/>
            </a:pPr>
            <a:r>
              <a:rPr lang="en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Overview</a:t>
            </a:r>
            <a:endParaRPr sz="2400">
              <a:solidFill>
                <a:srgbClr val="000000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ublic Sans"/>
              <a:buAutoNum type="arabicPeriod"/>
            </a:pPr>
            <a:r>
              <a:rPr lang="en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Consumption Data</a:t>
            </a:r>
            <a:endParaRPr sz="2400">
              <a:solidFill>
                <a:srgbClr val="000000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ublic Sans"/>
              <a:buAutoNum type="arabicPeriod"/>
            </a:pPr>
            <a:r>
              <a:rPr lang="en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Prices Data </a:t>
            </a:r>
            <a:endParaRPr sz="24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ublic Sans"/>
              <a:buAutoNum type="arabicPeriod"/>
            </a:pPr>
            <a:r>
              <a:rPr lang="en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Merging Datasets</a:t>
            </a:r>
            <a:endParaRPr sz="24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ublic Sans"/>
              <a:buAutoNum type="arabicPeriod"/>
            </a:pPr>
            <a:r>
              <a:rPr lang="en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Results and Conclusion</a:t>
            </a:r>
            <a:endParaRPr sz="24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167025" y="1118400"/>
            <a:ext cx="2813700" cy="11598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Consumption Data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‘Product Supplied for Finished Motor Gasoline’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194700" y="1118400"/>
            <a:ext cx="2813700" cy="11598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Prices Data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  </a:t>
            </a: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‘U.S. Gasoline and Diesel Retail Prices’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069351" y="1118400"/>
            <a:ext cx="3059400" cy="37350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U.S. Energy Information Administration (EIA)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Public source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Highly trusted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Frequent updates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Clear methodology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--</a:t>
            </a: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------------------------------------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**Things to Note**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Doesn’t account for vehicular registrations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Data collection for prices is 1,000 randomly geographically </a:t>
            </a: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dispersed stations collected weekly</a:t>
            </a: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31950" y="130975"/>
            <a:ext cx="4860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Dataset Selection</a:t>
            </a:r>
            <a:endParaRPr sz="36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45" name="Google Shape;145;p19" title="Screenshot 2025-11-13 at 10.54.0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963" y="2412350"/>
            <a:ext cx="1477825" cy="244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title="Screenshot 2025-11-13 at 10.54.4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0813" y="2352625"/>
            <a:ext cx="1721466" cy="25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313950" y="313675"/>
            <a:ext cx="8344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Overview</a:t>
            </a:r>
            <a:endParaRPr sz="6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313950" y="1194675"/>
            <a:ext cx="83442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Law of Supply and Demand: </a:t>
            </a:r>
            <a:endParaRPr sz="18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ublic Sans"/>
              <a:buChar char="-"/>
            </a:pPr>
            <a:r>
              <a:rPr lang="en" sz="1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Supply exceeds demand -&gt; prices goes dow</a:t>
            </a:r>
            <a:r>
              <a:rPr lang="en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endParaRPr sz="18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Law of Demand: </a:t>
            </a:r>
            <a:endParaRPr sz="18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ublic Sans"/>
              <a:buChar char="-"/>
            </a:pPr>
            <a:r>
              <a:rPr lang="en" sz="1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Prices go up -&gt; demand goes down</a:t>
            </a:r>
            <a:endParaRPr sz="16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ublic Sans"/>
              <a:buChar char="-"/>
            </a:pPr>
            <a:r>
              <a:rPr lang="en" sz="1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Prices go down -&gt; demand goes up</a:t>
            </a:r>
            <a:endParaRPr sz="16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Inelastic </a:t>
            </a:r>
            <a:r>
              <a:rPr lang="en" sz="1800"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oods: </a:t>
            </a:r>
            <a:endParaRPr sz="18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ublic Sans"/>
              <a:buChar char="-"/>
            </a:pPr>
            <a:r>
              <a:rPr lang="en" sz="16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Goods not sensitive to change in prices due to lack of substitutions or is a necessity (Gasoline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)</a:t>
            </a:r>
            <a:endParaRPr sz="16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461100" y="3923325"/>
            <a:ext cx="82830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How does gasoline consumption respond to changes in gas prices?</a:t>
            </a:r>
            <a:endParaRPr b="1" sz="1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140675" y="125050"/>
            <a:ext cx="8315700" cy="48612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140675" y="125050"/>
            <a:ext cx="7713900" cy="4861200"/>
          </a:xfrm>
          <a:prstGeom prst="roundRect">
            <a:avLst>
              <a:gd fmla="val 16667" name="adj"/>
            </a:avLst>
          </a:prstGeom>
          <a:solidFill>
            <a:srgbClr val="DAFE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140825" y="1768475"/>
            <a:ext cx="77139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ublic Sans"/>
                <a:ea typeface="Public Sans"/>
                <a:cs typeface="Public Sans"/>
                <a:sym typeface="Public Sans"/>
              </a:rPr>
              <a:t>Consumption Dataset</a:t>
            </a:r>
            <a:endParaRPr sz="6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Public Sans"/>
                <a:ea typeface="Public Sans"/>
                <a:cs typeface="Public Sans"/>
                <a:sym typeface="Public Sans"/>
              </a:rPr>
              <a:t>How the U.S. consumes gasoline</a:t>
            </a:r>
            <a:endParaRPr sz="33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3813900" y="125050"/>
            <a:ext cx="51813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4024125" y="430350"/>
            <a:ext cx="19698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4024150" y="1054675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Remove 2 header columns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Remove 5 regional rows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6588700" y="430348"/>
            <a:ext cx="1969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6512525" y="1054675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Rename ‘</a:t>
            </a:r>
            <a:r>
              <a:rPr i="1" lang="en" sz="1100">
                <a:solidFill>
                  <a:schemeClr val="dk1"/>
                </a:solidFill>
              </a:rPr>
              <a:t>U.S. Product Supplied for Finished Motor Gasoline (Thousand Barrels)</a:t>
            </a:r>
            <a:r>
              <a:rPr lang="en" sz="1100">
                <a:solidFill>
                  <a:schemeClr val="dk1"/>
                </a:solidFill>
              </a:rPr>
              <a:t>’ to Gasoline Consumption (MIllions of Gallons)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4021266" y="2508698"/>
            <a:ext cx="2011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4021250" y="3339500"/>
            <a:ext cx="2278200" cy="131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Convert ‘</a:t>
            </a:r>
            <a:r>
              <a:rPr i="1" lang="en" sz="1000">
                <a:latin typeface="Public Sans"/>
                <a:ea typeface="Public Sans"/>
                <a:cs typeface="Public Sans"/>
                <a:sym typeface="Public Sans"/>
              </a:rPr>
              <a:t>Date</a:t>
            </a: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’ to datetime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Filter Dates to 1/1/1994 to 12/31/2024</a:t>
            </a:r>
            <a:endParaRPr sz="1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6585838" y="2508700"/>
            <a:ext cx="1969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4.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6509625" y="3339500"/>
            <a:ext cx="2278200" cy="131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Convert values in Gasoline Consumption (MIllions of Gallons)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○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Multiply</a:t>
            </a: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 by 1000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○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Multiply by 42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○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Divide by 1,000,000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141063" y="1054675"/>
            <a:ext cx="3541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Consumption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Dataset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Cleaning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77" name="Google Shape;177;p22" title="Screenshot 2025-11-14 at 9.18.28 PM.png"/>
          <p:cNvPicPr preferRelativeResize="0"/>
          <p:nvPr/>
        </p:nvPicPr>
        <p:blipFill rotWithShape="1">
          <a:blip r:embed="rId3">
            <a:alphaModFix/>
          </a:blip>
          <a:srcRect b="0" l="3166" r="0" t="0"/>
          <a:stretch/>
        </p:blipFill>
        <p:spPr>
          <a:xfrm>
            <a:off x="102638" y="2459263"/>
            <a:ext cx="3618373" cy="929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2414400" y="1129950"/>
            <a:ext cx="2105100" cy="2883600"/>
          </a:xfrm>
          <a:prstGeom prst="roundRect">
            <a:avLst>
              <a:gd fmla="val 611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4624488" y="1129950"/>
            <a:ext cx="2105100" cy="2883600"/>
          </a:xfrm>
          <a:prstGeom prst="roundRect">
            <a:avLst>
              <a:gd fmla="val 611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/>
          <p:nvPr/>
        </p:nvSpPr>
        <p:spPr>
          <a:xfrm>
            <a:off x="6834563" y="1129950"/>
            <a:ext cx="2105100" cy="2883600"/>
          </a:xfrm>
          <a:prstGeom prst="roundRect">
            <a:avLst>
              <a:gd fmla="val 611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204350" y="95300"/>
            <a:ext cx="7522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Consumption Statistics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2562475" y="1258525"/>
            <a:ext cx="1809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Kurtosis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4772538" y="1258525"/>
            <a:ext cx="1809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Skew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6982613" y="1258525"/>
            <a:ext cx="1809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Outliers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4671588" y="1720625"/>
            <a:ext cx="2010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-0.84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-&gt; Slightly left skewed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-&gt; </a:t>
            </a:r>
            <a:r>
              <a:rPr lang="en" sz="1300">
                <a:solidFill>
                  <a:schemeClr val="dk1"/>
                </a:solidFill>
              </a:rPr>
              <a:t>Lower</a:t>
            </a:r>
            <a:r>
              <a:rPr lang="en" sz="1300">
                <a:solidFill>
                  <a:schemeClr val="dk1"/>
                </a:solidFill>
              </a:rPr>
              <a:t> values were more common </a:t>
            </a:r>
            <a:r>
              <a:rPr lang="en" sz="1300">
                <a:solidFill>
                  <a:schemeClr val="dk1"/>
                </a:solidFill>
              </a:rPr>
              <a:t>than higher values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461525" y="1720625"/>
            <a:ext cx="2010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0.96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-&gt; Slightly more peaked than normal distribution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6881675" y="1720625"/>
            <a:ext cx="2010900" cy="13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8,555 (</a:t>
            </a:r>
            <a:r>
              <a:rPr lang="en" sz="1800">
                <a:solidFill>
                  <a:schemeClr val="dk1"/>
                </a:solidFill>
              </a:rPr>
              <a:t>Feb 1994)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7,390 (April 2020)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-&gt; Not being removed due to time linearity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192" name="Google Shape;192;p23"/>
          <p:cNvGrpSpPr/>
          <p:nvPr/>
        </p:nvGrpSpPr>
        <p:grpSpPr>
          <a:xfrm>
            <a:off x="204338" y="1129950"/>
            <a:ext cx="2105100" cy="2883600"/>
            <a:chOff x="204338" y="1129950"/>
            <a:chExt cx="2105100" cy="2883600"/>
          </a:xfrm>
        </p:grpSpPr>
        <p:sp>
          <p:nvSpPr>
            <p:cNvPr id="193" name="Google Shape;193;p23"/>
            <p:cNvSpPr/>
            <p:nvPr/>
          </p:nvSpPr>
          <p:spPr>
            <a:xfrm>
              <a:off x="204338" y="1129950"/>
              <a:ext cx="2105100" cy="2883600"/>
            </a:xfrm>
            <a:prstGeom prst="roundRect">
              <a:avLst>
                <a:gd fmla="val 6117" name="adj"/>
              </a:avLst>
            </a:prstGeom>
            <a:solidFill>
              <a:srgbClr val="DAFE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 txBox="1"/>
            <p:nvPr/>
          </p:nvSpPr>
          <p:spPr>
            <a:xfrm>
              <a:off x="352400" y="1258525"/>
              <a:ext cx="1809000" cy="3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Summary Stats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195" name="Google Shape;195;p23"/>
            <p:cNvSpPr txBox="1"/>
            <p:nvPr/>
          </p:nvSpPr>
          <p:spPr>
            <a:xfrm>
              <a:off x="251400" y="1720625"/>
              <a:ext cx="2010900" cy="13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Minimum: 7,390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Mean: 11,211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Maximum: 12,803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Std. Dev: 820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</a:endParaRPr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352400" y="3607950"/>
              <a:ext cx="1809000" cy="306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chemeClr val="dk1"/>
                  </a:solidFill>
                </a:rPr>
                <a:t>*millions of gallons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7" name="Google Shape;197;p23"/>
          <p:cNvSpPr txBox="1"/>
          <p:nvPr/>
        </p:nvSpPr>
        <p:spPr>
          <a:xfrm>
            <a:off x="6982625" y="3607950"/>
            <a:ext cx="1809000" cy="30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*millions of gallons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4" title="fig3_consumption_monthl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25" y="117975"/>
            <a:ext cx="4780300" cy="2680525"/>
          </a:xfrm>
          <a:prstGeom prst="rect">
            <a:avLst/>
          </a:prstGeom>
          <a:noFill/>
          <a:ln cap="flat" cmpd="sng" w="9525">
            <a:solidFill>
              <a:srgbClr val="DAFEA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24" title="fig4_consumption_smooth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679" y="2338840"/>
            <a:ext cx="4780300" cy="2680535"/>
          </a:xfrm>
          <a:prstGeom prst="rect">
            <a:avLst/>
          </a:prstGeom>
          <a:noFill/>
          <a:ln cap="flat" cmpd="sng" w="9525">
            <a:solidFill>
              <a:srgbClr val="A0C7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24"/>
          <p:cNvSpPr txBox="1"/>
          <p:nvPr/>
        </p:nvSpPr>
        <p:spPr>
          <a:xfrm>
            <a:off x="1257675" y="2892075"/>
            <a:ext cx="2850600" cy="2159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Things to note:</a:t>
            </a:r>
            <a:endParaRPr sz="18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Seasonal pattern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Covid plunge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2008 - 2016 trough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05" name="Google Shape;205;p24"/>
          <p:cNvGrpSpPr/>
          <p:nvPr/>
        </p:nvGrpSpPr>
        <p:grpSpPr>
          <a:xfrm>
            <a:off x="5041754" y="275682"/>
            <a:ext cx="1427679" cy="1955658"/>
            <a:chOff x="204338" y="1129950"/>
            <a:chExt cx="2105100" cy="2883600"/>
          </a:xfrm>
        </p:grpSpPr>
        <p:sp>
          <p:nvSpPr>
            <p:cNvPr id="206" name="Google Shape;206;p24"/>
            <p:cNvSpPr/>
            <p:nvPr/>
          </p:nvSpPr>
          <p:spPr>
            <a:xfrm>
              <a:off x="204338" y="1129950"/>
              <a:ext cx="2105100" cy="2883600"/>
            </a:xfrm>
            <a:prstGeom prst="roundRect">
              <a:avLst>
                <a:gd fmla="val 6117" name="adj"/>
              </a:avLst>
            </a:prstGeom>
            <a:solidFill>
              <a:srgbClr val="DAFEA4"/>
            </a:solidFill>
            <a:ln cap="flat" cmpd="sng" w="6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000" lIns="62000" spcFirstLastPara="1" rIns="62000" wrap="square" tIns="6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9"/>
            </a:p>
          </p:txBody>
        </p:sp>
        <p:sp>
          <p:nvSpPr>
            <p:cNvPr id="207" name="Google Shape;207;p24"/>
            <p:cNvSpPr txBox="1"/>
            <p:nvPr/>
          </p:nvSpPr>
          <p:spPr>
            <a:xfrm>
              <a:off x="352400" y="1258525"/>
              <a:ext cx="1809000" cy="3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000" lIns="62000" spcFirstLastPara="1" rIns="62000" wrap="square" tIns="6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0">
                  <a:solidFill>
                    <a:schemeClr val="dk1"/>
                  </a:solidFill>
                </a:rPr>
                <a:t>Summary Stats</a:t>
              </a:r>
              <a:endParaRPr sz="1220">
                <a:solidFill>
                  <a:schemeClr val="dk1"/>
                </a:solidFill>
              </a:endParaRPr>
            </a:p>
          </p:txBody>
        </p:sp>
        <p:sp>
          <p:nvSpPr>
            <p:cNvPr id="208" name="Google Shape;208;p24"/>
            <p:cNvSpPr txBox="1"/>
            <p:nvPr/>
          </p:nvSpPr>
          <p:spPr>
            <a:xfrm>
              <a:off x="251400" y="1720625"/>
              <a:ext cx="2010900" cy="13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000" lIns="62000" spcFirstLastPara="1" rIns="62000" wrap="square" tIns="62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0">
                  <a:solidFill>
                    <a:schemeClr val="dk1"/>
                  </a:solidFill>
                </a:rPr>
                <a:t>Minimum: </a:t>
              </a:r>
              <a:r>
                <a:rPr lang="en" sz="1220">
                  <a:solidFill>
                    <a:srgbClr val="FF0000"/>
                  </a:solidFill>
                </a:rPr>
                <a:t>7,390</a:t>
              </a:r>
              <a:endParaRPr sz="1220">
                <a:solidFill>
                  <a:srgbClr val="FF0000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0">
                  <a:solidFill>
                    <a:schemeClr val="dk1"/>
                  </a:solidFill>
                </a:rPr>
                <a:t>Mean: 11,211</a:t>
              </a:r>
              <a:endParaRPr sz="122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0">
                  <a:solidFill>
                    <a:schemeClr val="dk1"/>
                  </a:solidFill>
                </a:rPr>
                <a:t>Maximum: </a:t>
              </a:r>
              <a:r>
                <a:rPr lang="en" sz="1220">
                  <a:solidFill>
                    <a:srgbClr val="9900FF"/>
                  </a:solidFill>
                </a:rPr>
                <a:t>12,803</a:t>
              </a:r>
              <a:endParaRPr sz="1220">
                <a:solidFill>
                  <a:srgbClr val="99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0">
                  <a:solidFill>
                    <a:schemeClr val="dk1"/>
                  </a:solidFill>
                </a:rPr>
                <a:t>Std. Dev: 820</a:t>
              </a:r>
              <a:endParaRPr sz="122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7">
                <a:solidFill>
                  <a:schemeClr val="dk1"/>
                </a:solidFill>
              </a:endParaRPr>
            </a:p>
          </p:txBody>
        </p:sp>
        <p:sp>
          <p:nvSpPr>
            <p:cNvPr id="209" name="Google Shape;209;p24"/>
            <p:cNvSpPr txBox="1"/>
            <p:nvPr/>
          </p:nvSpPr>
          <p:spPr>
            <a:xfrm>
              <a:off x="352400" y="3607950"/>
              <a:ext cx="1809000" cy="306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000" lIns="62000" spcFirstLastPara="1" rIns="62000" wrap="square" tIns="62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7">
                  <a:solidFill>
                    <a:schemeClr val="dk1"/>
                  </a:solidFill>
                </a:rPr>
                <a:t>*millions of gallons</a:t>
              </a:r>
              <a:endParaRPr sz="1220">
                <a:solidFill>
                  <a:schemeClr val="dk2"/>
                </a:solidFill>
              </a:endParaRPr>
            </a:p>
          </p:txBody>
        </p:sp>
      </p:grpSp>
      <p:sp>
        <p:nvSpPr>
          <p:cNvPr id="210" name="Google Shape;210;p24"/>
          <p:cNvSpPr/>
          <p:nvPr/>
        </p:nvSpPr>
        <p:spPr>
          <a:xfrm>
            <a:off x="3852100" y="2231350"/>
            <a:ext cx="188400" cy="20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3791775" y="603075"/>
            <a:ext cx="128100" cy="2034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4013413" y="504975"/>
            <a:ext cx="934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</a:rPr>
              <a:t>Aug, 2019</a:t>
            </a:r>
            <a:endParaRPr sz="1200">
              <a:solidFill>
                <a:srgbClr val="9900FF"/>
              </a:solidFill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4040500" y="1929850"/>
            <a:ext cx="934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highlight>
                  <a:schemeClr val="lt1"/>
                </a:highlight>
              </a:rPr>
              <a:t>April,</a:t>
            </a:r>
            <a:r>
              <a:rPr lang="en" sz="1200">
                <a:solidFill>
                  <a:srgbClr val="FF0000"/>
                </a:solidFill>
                <a:highlight>
                  <a:schemeClr val="lt1"/>
                </a:highlight>
              </a:rPr>
              <a:t> 2020</a:t>
            </a:r>
            <a:endParaRPr sz="12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5" title="fig6_consumption_month_to_mon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25" y="177225"/>
            <a:ext cx="5888424" cy="2476441"/>
          </a:xfrm>
          <a:prstGeom prst="rect">
            <a:avLst/>
          </a:prstGeom>
          <a:noFill/>
          <a:ln cap="flat" cmpd="sng" w="9525">
            <a:solidFill>
              <a:srgbClr val="DAFEA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9" name="Google Shape;219;p25" title="fig8_consumption_monthly_annota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4600" y="2480725"/>
            <a:ext cx="5888424" cy="2476441"/>
          </a:xfrm>
          <a:prstGeom prst="rect">
            <a:avLst/>
          </a:prstGeom>
          <a:noFill/>
          <a:ln cap="flat" cmpd="sng" w="9525">
            <a:solidFill>
              <a:srgbClr val="A0C7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" name="Google Shape;220;p25"/>
          <p:cNvSpPr txBox="1"/>
          <p:nvPr/>
        </p:nvSpPr>
        <p:spPr>
          <a:xfrm>
            <a:off x="107175" y="2797475"/>
            <a:ext cx="2850600" cy="2159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Notable Events</a:t>
            </a:r>
            <a:endParaRPr sz="18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2001 (Dot-Com Bubble Burst, Recession, 9/11)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2008 (Great Recession)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2020 (COVID)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140675" y="125050"/>
            <a:ext cx="8315700" cy="48612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140675" y="125050"/>
            <a:ext cx="7713900" cy="4861200"/>
          </a:xfrm>
          <a:prstGeom prst="roundRect">
            <a:avLst>
              <a:gd fmla="val 16667" name="adj"/>
            </a:avLst>
          </a:prstGeom>
          <a:solidFill>
            <a:srgbClr val="DAFE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374200" y="1768475"/>
            <a:ext cx="69096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ublic Sans"/>
                <a:ea typeface="Public Sans"/>
                <a:cs typeface="Public Sans"/>
                <a:sym typeface="Public Sans"/>
              </a:rPr>
              <a:t>Prices</a:t>
            </a:r>
            <a:endParaRPr sz="6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ublic Sans"/>
                <a:ea typeface="Public Sans"/>
                <a:cs typeface="Public Sans"/>
                <a:sym typeface="Public Sans"/>
              </a:rPr>
              <a:t>Dataset</a:t>
            </a:r>
            <a:endParaRPr sz="6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Public Sans"/>
                <a:ea typeface="Public Sans"/>
                <a:cs typeface="Public Sans"/>
                <a:sym typeface="Public Sans"/>
              </a:rPr>
              <a:t>Gasoline price trends in the U.S.</a:t>
            </a:r>
            <a:endParaRPr sz="33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/>
          <p:nvPr/>
        </p:nvSpPr>
        <p:spPr>
          <a:xfrm>
            <a:off x="3813900" y="125050"/>
            <a:ext cx="51813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4024125" y="430350"/>
            <a:ext cx="19698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4024150" y="1054675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Remove 2 header columns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Remove 14 fuel type rows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6588700" y="430348"/>
            <a:ext cx="1969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6512525" y="1054675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Rename ‘</a:t>
            </a:r>
            <a:r>
              <a:rPr i="1" lang="en" sz="1100">
                <a:solidFill>
                  <a:schemeClr val="dk1"/>
                </a:solidFill>
              </a:rPr>
              <a:t>Weekly U.S. All Grades All Formulations Retail Gasoline Prices  (Dollars per Gallon)</a:t>
            </a:r>
            <a:r>
              <a:rPr lang="en" sz="1100">
                <a:solidFill>
                  <a:schemeClr val="dk1"/>
                </a:solidFill>
              </a:rPr>
              <a:t>’ to ‘</a:t>
            </a:r>
            <a:r>
              <a:rPr i="1" lang="en" sz="1100">
                <a:solidFill>
                  <a:schemeClr val="dk1"/>
                </a:solidFill>
              </a:rPr>
              <a:t>Dollars Per Gallon</a:t>
            </a:r>
            <a:r>
              <a:rPr lang="en" sz="1100">
                <a:solidFill>
                  <a:schemeClr val="dk1"/>
                </a:solidFill>
              </a:rPr>
              <a:t>’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5265466" y="2508698"/>
            <a:ext cx="2011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5265450" y="3339500"/>
            <a:ext cx="2278200" cy="131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Convert ‘</a:t>
            </a:r>
            <a:r>
              <a:rPr i="1" lang="en" sz="1000">
                <a:latin typeface="Public Sans"/>
                <a:ea typeface="Public Sans"/>
                <a:cs typeface="Public Sans"/>
                <a:sym typeface="Public Sans"/>
              </a:rPr>
              <a:t>Date’</a:t>
            </a: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 to datetime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Filter Dates to 1/1/1994 to 12/31/2024</a:t>
            </a:r>
            <a:endParaRPr sz="1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141063" y="1054675"/>
            <a:ext cx="3541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Prices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Dataset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Cleaning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241" name="Google Shape;241;p27" title="Screenshot 2025-11-14 at 9.31.47 PM.png"/>
          <p:cNvPicPr preferRelativeResize="0"/>
          <p:nvPr/>
        </p:nvPicPr>
        <p:blipFill rotWithShape="1">
          <a:blip r:embed="rId3">
            <a:alphaModFix/>
          </a:blip>
          <a:srcRect b="0" l="3138" r="0" t="0"/>
          <a:stretch/>
        </p:blipFill>
        <p:spPr>
          <a:xfrm>
            <a:off x="90500" y="2459275"/>
            <a:ext cx="3642675" cy="9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/>
          <p:nvPr/>
        </p:nvSpPr>
        <p:spPr>
          <a:xfrm>
            <a:off x="204338" y="1129950"/>
            <a:ext cx="2105100" cy="2883600"/>
          </a:xfrm>
          <a:prstGeom prst="roundRect">
            <a:avLst>
              <a:gd fmla="val 611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2414400" y="1129950"/>
            <a:ext cx="2105100" cy="2883600"/>
          </a:xfrm>
          <a:prstGeom prst="roundRect">
            <a:avLst>
              <a:gd fmla="val 611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4624488" y="1129950"/>
            <a:ext cx="2105100" cy="2883600"/>
          </a:xfrm>
          <a:prstGeom prst="roundRect">
            <a:avLst>
              <a:gd fmla="val 611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6834563" y="1129950"/>
            <a:ext cx="2105100" cy="2883600"/>
          </a:xfrm>
          <a:prstGeom prst="roundRect">
            <a:avLst>
              <a:gd fmla="val 6117" name="adj"/>
            </a:avLst>
          </a:prstGeom>
          <a:solidFill>
            <a:srgbClr val="DAFE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0" name="Google Shape;250;p28"/>
          <p:cNvSpPr txBox="1"/>
          <p:nvPr/>
        </p:nvSpPr>
        <p:spPr>
          <a:xfrm>
            <a:off x="204350" y="95300"/>
            <a:ext cx="7522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Prices</a:t>
            </a: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 Statistics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352400" y="1258525"/>
            <a:ext cx="1809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Summary Stats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2562475" y="1258525"/>
            <a:ext cx="1809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Kurtosis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4772538" y="1258525"/>
            <a:ext cx="1809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Skew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6982613" y="1258525"/>
            <a:ext cx="1809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Outliers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4671588" y="1720625"/>
            <a:ext cx="2010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0.13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-&gt; distribution is nearly symmetrical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2461525" y="1720625"/>
            <a:ext cx="2010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-1.09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-&gt; slightly flatter than normal distribution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251400" y="1720625"/>
            <a:ext cx="2010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Minimum: $0.96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Mean: $</a:t>
            </a:r>
            <a:r>
              <a:rPr lang="en" sz="1800">
                <a:solidFill>
                  <a:schemeClr val="dk1"/>
                </a:solidFill>
              </a:rPr>
              <a:t>2.41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Maximum: $5.03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Std. Dev: $0.94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6881675" y="1720625"/>
            <a:ext cx="2010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none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9" title="fig11_prices_monthly_boxplo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64550" cy="2335250"/>
          </a:xfrm>
          <a:prstGeom prst="rect">
            <a:avLst/>
          </a:prstGeom>
          <a:noFill/>
          <a:ln cap="flat" cmpd="sng" w="9525">
            <a:solidFill>
              <a:srgbClr val="DAFEA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4" name="Google Shape;264;p29"/>
          <p:cNvSpPr txBox="1"/>
          <p:nvPr/>
        </p:nvSpPr>
        <p:spPr>
          <a:xfrm>
            <a:off x="4419325" y="152400"/>
            <a:ext cx="3324300" cy="11619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Things to note:</a:t>
            </a:r>
            <a:endParaRPr sz="18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Seasonal pattern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Summer is highest prices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Dec/Jan are lowest prices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65" name="Google Shape;265;p29" title="FigEX_Inflation_W_Even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9050" y="2299200"/>
            <a:ext cx="5264675" cy="2774125"/>
          </a:xfrm>
          <a:prstGeom prst="rect">
            <a:avLst/>
          </a:prstGeom>
          <a:noFill/>
          <a:ln cap="flat" cmpd="sng" w="9525">
            <a:solidFill>
              <a:srgbClr val="A0C7F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/>
          <p:nvPr/>
        </p:nvSpPr>
        <p:spPr>
          <a:xfrm>
            <a:off x="3813900" y="125050"/>
            <a:ext cx="51813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0"/>
          <p:cNvSpPr txBox="1"/>
          <p:nvPr/>
        </p:nvSpPr>
        <p:spPr>
          <a:xfrm>
            <a:off x="4021250" y="1604238"/>
            <a:ext cx="19698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4021275" y="2228563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Import FRED CPI dataset for 1994-2024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Merge Prices and CPI on ‘</a:t>
            </a:r>
            <a:r>
              <a:rPr i="1" lang="en" sz="1000">
                <a:latin typeface="Public Sans"/>
                <a:ea typeface="Public Sans"/>
                <a:cs typeface="Public Sans"/>
                <a:sym typeface="Public Sans"/>
              </a:rPr>
              <a:t>Date’</a:t>
            </a:r>
            <a:endParaRPr i="1"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6585825" y="1604236"/>
            <a:ext cx="1969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6509650" y="2228563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Drop ‘</a:t>
            </a:r>
            <a:r>
              <a:rPr i="1" lang="en" sz="1000">
                <a:latin typeface="Public Sans"/>
                <a:ea typeface="Public Sans"/>
                <a:cs typeface="Public Sans"/>
                <a:sym typeface="Public Sans"/>
              </a:rPr>
              <a:t>CPI’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156150" y="1608450"/>
            <a:ext cx="3541500" cy="19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Prices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Dataset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Conversion for Inflation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 txBox="1"/>
          <p:nvPr/>
        </p:nvSpPr>
        <p:spPr>
          <a:xfrm>
            <a:off x="204350" y="95300"/>
            <a:ext cx="7522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Prices w/ Inflation Statistics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281" name="Google Shape;281;p31"/>
          <p:cNvGrpSpPr/>
          <p:nvPr/>
        </p:nvGrpSpPr>
        <p:grpSpPr>
          <a:xfrm>
            <a:off x="1928838" y="1129950"/>
            <a:ext cx="2105100" cy="2883600"/>
            <a:chOff x="204338" y="1129950"/>
            <a:chExt cx="2105100" cy="2883600"/>
          </a:xfrm>
        </p:grpSpPr>
        <p:sp>
          <p:nvSpPr>
            <p:cNvPr id="282" name="Google Shape;282;p31"/>
            <p:cNvSpPr/>
            <p:nvPr/>
          </p:nvSpPr>
          <p:spPr>
            <a:xfrm>
              <a:off x="204338" y="1129950"/>
              <a:ext cx="2105100" cy="2883600"/>
            </a:xfrm>
            <a:prstGeom prst="roundRect">
              <a:avLst>
                <a:gd fmla="val 6117" name="adj"/>
              </a:avLst>
            </a:prstGeom>
            <a:solidFill>
              <a:srgbClr val="DAFE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1"/>
            <p:cNvSpPr txBox="1"/>
            <p:nvPr/>
          </p:nvSpPr>
          <p:spPr>
            <a:xfrm>
              <a:off x="352400" y="1258525"/>
              <a:ext cx="1809000" cy="3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Inflation</a:t>
              </a:r>
              <a:r>
                <a:rPr lang="en" sz="1800">
                  <a:solidFill>
                    <a:schemeClr val="dk1"/>
                  </a:solidFill>
                </a:rPr>
                <a:t> Stats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84" name="Google Shape;284;p31"/>
            <p:cNvSpPr txBox="1"/>
            <p:nvPr/>
          </p:nvSpPr>
          <p:spPr>
            <a:xfrm>
              <a:off x="251400" y="1720625"/>
              <a:ext cx="2010900" cy="211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Minimum: $1.85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Mean: $3.42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Maximum: $5.92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Std. Dev: $0.94</a:t>
              </a:r>
              <a:endParaRPr sz="1500">
                <a:solidFill>
                  <a:schemeClr val="dk1"/>
                </a:solidFill>
              </a:endParaRPr>
            </a:p>
          </p:txBody>
        </p:sp>
      </p:grpSp>
      <p:grpSp>
        <p:nvGrpSpPr>
          <p:cNvPr id="285" name="Google Shape;285;p31"/>
          <p:cNvGrpSpPr/>
          <p:nvPr/>
        </p:nvGrpSpPr>
        <p:grpSpPr>
          <a:xfrm>
            <a:off x="4831138" y="1129950"/>
            <a:ext cx="2105100" cy="2883600"/>
            <a:chOff x="3694588" y="1129950"/>
            <a:chExt cx="2105100" cy="2883600"/>
          </a:xfrm>
        </p:grpSpPr>
        <p:sp>
          <p:nvSpPr>
            <p:cNvPr id="286" name="Google Shape;286;p31"/>
            <p:cNvSpPr/>
            <p:nvPr/>
          </p:nvSpPr>
          <p:spPr>
            <a:xfrm>
              <a:off x="3694588" y="1129950"/>
              <a:ext cx="2105100" cy="2883600"/>
            </a:xfrm>
            <a:prstGeom prst="roundRect">
              <a:avLst>
                <a:gd fmla="val 6117" name="adj"/>
              </a:avLst>
            </a:prstGeom>
            <a:solidFill>
              <a:srgbClr val="4B91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1"/>
            <p:cNvSpPr txBox="1"/>
            <p:nvPr/>
          </p:nvSpPr>
          <p:spPr>
            <a:xfrm>
              <a:off x="3842650" y="1258525"/>
              <a:ext cx="1809000" cy="3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Nominal</a:t>
              </a:r>
              <a:r>
                <a:rPr lang="en" sz="1800">
                  <a:solidFill>
                    <a:schemeClr val="dk1"/>
                  </a:solidFill>
                </a:rPr>
                <a:t> Stats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88" name="Google Shape;288;p31"/>
            <p:cNvSpPr txBox="1"/>
            <p:nvPr/>
          </p:nvSpPr>
          <p:spPr>
            <a:xfrm>
              <a:off x="3741650" y="1720625"/>
              <a:ext cx="2010900" cy="211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Minimum: $0.96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Mean: $2.41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Maximum: $5.03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Std. Dev: $0.94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2" title="fig14_prices_vs_inf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13" y="107175"/>
            <a:ext cx="8041775" cy="3382050"/>
          </a:xfrm>
          <a:prstGeom prst="rect">
            <a:avLst/>
          </a:prstGeom>
          <a:noFill/>
          <a:ln cap="flat" cmpd="sng" w="9525">
            <a:solidFill>
              <a:srgbClr val="DAFEA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32"/>
          <p:cNvSpPr txBox="1"/>
          <p:nvPr/>
        </p:nvSpPr>
        <p:spPr>
          <a:xfrm>
            <a:off x="2909850" y="3672825"/>
            <a:ext cx="3324300" cy="11619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Things to note:</a:t>
            </a:r>
            <a:endParaRPr sz="18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Inflation has less effect on more current prices than older prices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"/>
          <p:cNvSpPr/>
          <p:nvPr/>
        </p:nvSpPr>
        <p:spPr>
          <a:xfrm>
            <a:off x="140675" y="125050"/>
            <a:ext cx="8315700" cy="48612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3"/>
          <p:cNvSpPr/>
          <p:nvPr/>
        </p:nvSpPr>
        <p:spPr>
          <a:xfrm>
            <a:off x="140675" y="125050"/>
            <a:ext cx="7713900" cy="4861200"/>
          </a:xfrm>
          <a:prstGeom prst="roundRect">
            <a:avLst>
              <a:gd fmla="val 16667" name="adj"/>
            </a:avLst>
          </a:prstGeom>
          <a:solidFill>
            <a:srgbClr val="DAFE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3"/>
          <p:cNvSpPr txBox="1"/>
          <p:nvPr/>
        </p:nvSpPr>
        <p:spPr>
          <a:xfrm>
            <a:off x="374200" y="1768475"/>
            <a:ext cx="69096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ublic Sans"/>
                <a:ea typeface="Public Sans"/>
                <a:cs typeface="Public Sans"/>
                <a:sym typeface="Public Sans"/>
              </a:rPr>
              <a:t>Merging </a:t>
            </a:r>
            <a:endParaRPr sz="6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ublic Sans"/>
                <a:ea typeface="Public Sans"/>
                <a:cs typeface="Public Sans"/>
                <a:sym typeface="Public Sans"/>
              </a:rPr>
              <a:t>Price and Consumption</a:t>
            </a:r>
            <a:endParaRPr sz="33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/>
          <p:nvPr/>
        </p:nvSpPr>
        <p:spPr>
          <a:xfrm>
            <a:off x="3813900" y="125050"/>
            <a:ext cx="51813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"/>
          <p:cNvSpPr txBox="1"/>
          <p:nvPr/>
        </p:nvSpPr>
        <p:spPr>
          <a:xfrm>
            <a:off x="4024125" y="430350"/>
            <a:ext cx="19698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9" name="Google Shape;309;p34"/>
          <p:cNvSpPr txBox="1"/>
          <p:nvPr/>
        </p:nvSpPr>
        <p:spPr>
          <a:xfrm>
            <a:off x="4024150" y="1054675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Char char="●"/>
            </a:pPr>
            <a:r>
              <a:rPr lang="en" sz="1000">
                <a:latin typeface="Public Sans"/>
                <a:ea typeface="Public Sans"/>
                <a:cs typeface="Public Sans"/>
                <a:sym typeface="Public Sans"/>
              </a:rPr>
              <a:t>Keep ‘</a:t>
            </a:r>
            <a:r>
              <a:rPr i="1" lang="en" sz="1000">
                <a:latin typeface="Public Sans"/>
                <a:ea typeface="Public Sans"/>
                <a:cs typeface="Public Sans"/>
                <a:sym typeface="Public Sans"/>
              </a:rPr>
              <a:t>Date’, ‘Dollars Per Gallon’, ‘Price Adjusted’, and ‘Gasoline Consumption (MIllions of Gallons)’</a:t>
            </a:r>
            <a:endParaRPr i="1"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0" name="Google Shape;310;p34"/>
          <p:cNvSpPr txBox="1"/>
          <p:nvPr/>
        </p:nvSpPr>
        <p:spPr>
          <a:xfrm>
            <a:off x="6588700" y="430348"/>
            <a:ext cx="1969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1" name="Google Shape;311;p34"/>
          <p:cNvSpPr txBox="1"/>
          <p:nvPr/>
        </p:nvSpPr>
        <p:spPr>
          <a:xfrm>
            <a:off x="6512525" y="1054675"/>
            <a:ext cx="2278200" cy="13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Inner Merge on ‘</a:t>
            </a:r>
            <a:r>
              <a:rPr i="1" lang="en" sz="1100">
                <a:solidFill>
                  <a:schemeClr val="dk1"/>
                </a:solidFill>
              </a:rPr>
              <a:t>Date</a:t>
            </a:r>
            <a:r>
              <a:rPr lang="en" sz="1100">
                <a:solidFill>
                  <a:schemeClr val="dk1"/>
                </a:solidFill>
              </a:rPr>
              <a:t>’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5265466" y="2508698"/>
            <a:ext cx="20118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</a:t>
            </a:r>
            <a:endParaRPr sz="5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3" name="Google Shape;313;p34"/>
          <p:cNvSpPr txBox="1"/>
          <p:nvPr/>
        </p:nvSpPr>
        <p:spPr>
          <a:xfrm>
            <a:off x="5265450" y="3339500"/>
            <a:ext cx="2278200" cy="131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Rename ‘</a:t>
            </a:r>
            <a:r>
              <a:rPr i="1"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Dollars Per Gallon’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to ‘</a:t>
            </a:r>
            <a:r>
              <a:rPr i="1"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Nominal Price USD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’ and </a:t>
            </a:r>
            <a:r>
              <a:rPr i="1"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‘Price Adjusted’</a:t>
            </a: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to </a:t>
            </a:r>
            <a:r>
              <a:rPr i="1"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‘Inflation Adjusted Price USD’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4" name="Google Shape;314;p34"/>
          <p:cNvSpPr txBox="1"/>
          <p:nvPr/>
        </p:nvSpPr>
        <p:spPr>
          <a:xfrm>
            <a:off x="196288" y="998875"/>
            <a:ext cx="3541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BF8F4"/>
                </a:solidFill>
                <a:latin typeface="Public Sans"/>
                <a:ea typeface="Public Sans"/>
                <a:cs typeface="Public Sans"/>
                <a:sym typeface="Public Sans"/>
              </a:rPr>
              <a:t>Merging Consumption and Prices</a:t>
            </a:r>
            <a:endParaRPr sz="3600">
              <a:solidFill>
                <a:srgbClr val="FBF8F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5" title="fig19_price&amp;consumption_violin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0" y="78600"/>
            <a:ext cx="4699451" cy="2635200"/>
          </a:xfrm>
          <a:prstGeom prst="rect">
            <a:avLst/>
          </a:prstGeom>
          <a:noFill/>
          <a:ln cap="flat" cmpd="sng" w="9525">
            <a:solidFill>
              <a:srgbClr val="DAFEA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0" name="Google Shape;320;p35" title="fig20_merged_price_vs_inf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4075" y="1424750"/>
            <a:ext cx="5515199" cy="3623126"/>
          </a:xfrm>
          <a:prstGeom prst="rect">
            <a:avLst/>
          </a:prstGeom>
          <a:noFill/>
          <a:ln cap="flat" cmpd="sng" w="9525">
            <a:solidFill>
              <a:srgbClr val="A0C7F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6"/>
          <p:cNvSpPr/>
          <p:nvPr/>
        </p:nvSpPr>
        <p:spPr>
          <a:xfrm>
            <a:off x="140675" y="125050"/>
            <a:ext cx="8315700" cy="48612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6"/>
          <p:cNvSpPr/>
          <p:nvPr/>
        </p:nvSpPr>
        <p:spPr>
          <a:xfrm>
            <a:off x="140675" y="125050"/>
            <a:ext cx="7713900" cy="4861200"/>
          </a:xfrm>
          <a:prstGeom prst="roundRect">
            <a:avLst>
              <a:gd fmla="val 16667" name="adj"/>
            </a:avLst>
          </a:prstGeom>
          <a:solidFill>
            <a:srgbClr val="DAFE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6"/>
          <p:cNvSpPr txBox="1"/>
          <p:nvPr/>
        </p:nvSpPr>
        <p:spPr>
          <a:xfrm>
            <a:off x="374200" y="1768475"/>
            <a:ext cx="69096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ublic Sans"/>
                <a:ea typeface="Public Sans"/>
                <a:cs typeface="Public Sans"/>
                <a:sym typeface="Public Sans"/>
              </a:rPr>
              <a:t>Analysis using Linear Regression</a:t>
            </a:r>
            <a:endParaRPr sz="33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/>
          <p:nvPr/>
        </p:nvSpPr>
        <p:spPr>
          <a:xfrm>
            <a:off x="4832100" y="125050"/>
            <a:ext cx="4118400" cy="4861200"/>
          </a:xfrm>
          <a:prstGeom prst="roundRect">
            <a:avLst>
              <a:gd fmla="val 16667" name="adj"/>
            </a:avLst>
          </a:prstGeom>
          <a:solidFill>
            <a:srgbClr val="DAFE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7"/>
          <p:cNvSpPr/>
          <p:nvPr/>
        </p:nvSpPr>
        <p:spPr>
          <a:xfrm>
            <a:off x="301550" y="125050"/>
            <a:ext cx="41106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7"/>
          <p:cNvSpPr txBox="1"/>
          <p:nvPr/>
        </p:nvSpPr>
        <p:spPr>
          <a:xfrm>
            <a:off x="301475" y="248775"/>
            <a:ext cx="4110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Linear Regression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6" name="Google Shape;336;p37"/>
          <p:cNvSpPr txBox="1"/>
          <p:nvPr/>
        </p:nvSpPr>
        <p:spPr>
          <a:xfrm>
            <a:off x="457250" y="1967075"/>
            <a:ext cx="37992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‘</a:t>
            </a:r>
            <a:r>
              <a:rPr i="1" lang="en" sz="1800">
                <a:solidFill>
                  <a:schemeClr val="dk1"/>
                </a:solidFill>
              </a:rPr>
              <a:t>Inflation Adjusted Price</a:t>
            </a:r>
            <a:r>
              <a:rPr lang="en" sz="1800">
                <a:solidFill>
                  <a:schemeClr val="dk1"/>
                </a:solidFill>
              </a:rPr>
              <a:t>’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Y = ‘</a:t>
            </a:r>
            <a:r>
              <a:rPr i="1" lang="en" sz="1800">
                <a:solidFill>
                  <a:schemeClr val="dk1"/>
                </a:solidFill>
              </a:rPr>
              <a:t>Gasoline Consumption</a:t>
            </a:r>
            <a:r>
              <a:rPr lang="en" sz="1800">
                <a:solidFill>
                  <a:schemeClr val="dk1"/>
                </a:solidFill>
              </a:rPr>
              <a:t>’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75% Train | 25% Test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37" name="Google Shape;337;p37" title="LinearRegres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988" y="417150"/>
            <a:ext cx="3672626" cy="2817575"/>
          </a:xfrm>
          <a:prstGeom prst="rect">
            <a:avLst/>
          </a:prstGeom>
          <a:solidFill>
            <a:srgbClr val="4B917D"/>
          </a:solidFill>
          <a:ln>
            <a:noFill/>
          </a:ln>
        </p:spPr>
      </p:pic>
      <p:sp>
        <p:nvSpPr>
          <p:cNvPr id="338" name="Google Shape;338;p37"/>
          <p:cNvSpPr txBox="1"/>
          <p:nvPr/>
        </p:nvSpPr>
        <p:spPr>
          <a:xfrm>
            <a:off x="4832100" y="3462375"/>
            <a:ext cx="41106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Take Note: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Regression line doesn’t fit data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Data makes inverted and tilted U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/>
          <p:nvPr/>
        </p:nvSpPr>
        <p:spPr>
          <a:xfrm>
            <a:off x="144600" y="1411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38"/>
          <p:cNvGrpSpPr/>
          <p:nvPr/>
        </p:nvGrpSpPr>
        <p:grpSpPr>
          <a:xfrm>
            <a:off x="635339" y="1133350"/>
            <a:ext cx="7746514" cy="1573325"/>
            <a:chOff x="531825" y="958725"/>
            <a:chExt cx="7953300" cy="1573325"/>
          </a:xfrm>
        </p:grpSpPr>
        <p:sp>
          <p:nvSpPr>
            <p:cNvPr id="345" name="Google Shape;345;p38"/>
            <p:cNvSpPr txBox="1"/>
            <p:nvPr/>
          </p:nvSpPr>
          <p:spPr>
            <a:xfrm>
              <a:off x="620825" y="1319925"/>
              <a:ext cx="7860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9,911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46" name="Google Shape;346;p38"/>
            <p:cNvSpPr txBox="1"/>
            <p:nvPr/>
          </p:nvSpPr>
          <p:spPr>
            <a:xfrm>
              <a:off x="1863375" y="1319925"/>
              <a:ext cx="9168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10,297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47" name="Google Shape;347;p38"/>
            <p:cNvSpPr txBox="1"/>
            <p:nvPr/>
          </p:nvSpPr>
          <p:spPr>
            <a:xfrm>
              <a:off x="3236725" y="1319925"/>
              <a:ext cx="9168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10,683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48" name="Google Shape;348;p38"/>
            <p:cNvSpPr txBox="1"/>
            <p:nvPr/>
          </p:nvSpPr>
          <p:spPr>
            <a:xfrm>
              <a:off x="4610075" y="1319925"/>
              <a:ext cx="9636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11,069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49" name="Google Shape;349;p38"/>
            <p:cNvSpPr txBox="1"/>
            <p:nvPr/>
          </p:nvSpPr>
          <p:spPr>
            <a:xfrm>
              <a:off x="6030225" y="1319925"/>
              <a:ext cx="9636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11,455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0" name="Google Shape;350;p38"/>
            <p:cNvSpPr txBox="1"/>
            <p:nvPr/>
          </p:nvSpPr>
          <p:spPr>
            <a:xfrm>
              <a:off x="7450375" y="1319925"/>
              <a:ext cx="9168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11,841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1" name="Google Shape;351;p38"/>
            <p:cNvSpPr txBox="1"/>
            <p:nvPr/>
          </p:nvSpPr>
          <p:spPr>
            <a:xfrm>
              <a:off x="3289850" y="958725"/>
              <a:ext cx="2417100" cy="36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Millions of Gallons</a:t>
              </a:r>
              <a:endParaRPr sz="1800">
                <a:solidFill>
                  <a:schemeClr val="dk1"/>
                </a:solidFill>
              </a:endParaRPr>
            </a:p>
          </p:txBody>
        </p:sp>
        <p:cxnSp>
          <p:nvCxnSpPr>
            <p:cNvPr id="352" name="Google Shape;352;p38"/>
            <p:cNvCxnSpPr/>
            <p:nvPr/>
          </p:nvCxnSpPr>
          <p:spPr>
            <a:xfrm flipH="1" rot="10800000">
              <a:off x="531825" y="1730325"/>
              <a:ext cx="7953300" cy="318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3" name="Google Shape;353;p38"/>
            <p:cNvSpPr txBox="1"/>
            <p:nvPr/>
          </p:nvSpPr>
          <p:spPr>
            <a:xfrm>
              <a:off x="783725" y="1765250"/>
              <a:ext cx="4602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$0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4" name="Google Shape;354;p38"/>
            <p:cNvSpPr txBox="1"/>
            <p:nvPr/>
          </p:nvSpPr>
          <p:spPr>
            <a:xfrm>
              <a:off x="2091675" y="1765250"/>
              <a:ext cx="4602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$1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5" name="Google Shape;355;p38"/>
            <p:cNvSpPr txBox="1"/>
            <p:nvPr/>
          </p:nvSpPr>
          <p:spPr>
            <a:xfrm>
              <a:off x="3465025" y="1765250"/>
              <a:ext cx="4602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$2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6" name="Google Shape;356;p38"/>
            <p:cNvSpPr txBox="1"/>
            <p:nvPr/>
          </p:nvSpPr>
          <p:spPr>
            <a:xfrm>
              <a:off x="4861775" y="1765250"/>
              <a:ext cx="4602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$3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7" name="Google Shape;357;p38"/>
            <p:cNvSpPr txBox="1"/>
            <p:nvPr/>
          </p:nvSpPr>
          <p:spPr>
            <a:xfrm>
              <a:off x="6281925" y="1765250"/>
              <a:ext cx="4602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$4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8" name="Google Shape;358;p38"/>
            <p:cNvSpPr txBox="1"/>
            <p:nvPr/>
          </p:nvSpPr>
          <p:spPr>
            <a:xfrm>
              <a:off x="7678675" y="1765250"/>
              <a:ext cx="4602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$5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9" name="Google Shape;359;p38"/>
            <p:cNvSpPr txBox="1"/>
            <p:nvPr/>
          </p:nvSpPr>
          <p:spPr>
            <a:xfrm>
              <a:off x="3399625" y="2170850"/>
              <a:ext cx="2417100" cy="36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Dollars per Gallon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grpSp>
        <p:nvGrpSpPr>
          <p:cNvPr id="360" name="Google Shape;360;p38"/>
          <p:cNvGrpSpPr/>
          <p:nvPr/>
        </p:nvGrpSpPr>
        <p:grpSpPr>
          <a:xfrm>
            <a:off x="144600" y="3357600"/>
            <a:ext cx="8854800" cy="1164900"/>
            <a:chOff x="144600" y="3357600"/>
            <a:chExt cx="8854800" cy="1164900"/>
          </a:xfrm>
        </p:grpSpPr>
        <p:sp>
          <p:nvSpPr>
            <p:cNvPr id="361" name="Google Shape;361;p38"/>
            <p:cNvSpPr txBox="1"/>
            <p:nvPr/>
          </p:nvSpPr>
          <p:spPr>
            <a:xfrm>
              <a:off x="1170600" y="3357600"/>
              <a:ext cx="1212600" cy="4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R</a:t>
              </a:r>
              <a:r>
                <a:rPr baseline="30000" lang="en" sz="1800">
                  <a:solidFill>
                    <a:schemeClr val="dk1"/>
                  </a:solidFill>
                </a:rPr>
                <a:t>2</a:t>
              </a:r>
              <a:r>
                <a:rPr lang="en" sz="1800">
                  <a:solidFill>
                    <a:schemeClr val="dk1"/>
                  </a:solidFill>
                </a:rPr>
                <a:t> = 0.14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362" name="Google Shape;362;p38"/>
            <p:cNvSpPr txBox="1"/>
            <p:nvPr/>
          </p:nvSpPr>
          <p:spPr>
            <a:xfrm>
              <a:off x="144600" y="3849600"/>
              <a:ext cx="3500100" cy="67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</a:rPr>
                <a:t>Linear Regression can only explain 14% of the data</a:t>
              </a:r>
              <a:endParaRPr b="1" sz="1800"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38"/>
            <p:cNvSpPr txBox="1"/>
            <p:nvPr/>
          </p:nvSpPr>
          <p:spPr>
            <a:xfrm>
              <a:off x="6319500" y="3357600"/>
              <a:ext cx="1859700" cy="4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RMSE = 704.38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8"/>
            <p:cNvSpPr txBox="1"/>
            <p:nvPr/>
          </p:nvSpPr>
          <p:spPr>
            <a:xfrm>
              <a:off x="5499300" y="3849600"/>
              <a:ext cx="3500100" cy="67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</a:rPr>
                <a:t>Prediction is off by average of 704.38 millions of gallons to actual </a:t>
              </a:r>
              <a:r>
                <a:rPr b="1" lang="en" sz="1800">
                  <a:solidFill>
                    <a:schemeClr val="dk1"/>
                  </a:solidFill>
                </a:rPr>
                <a:t>consumption</a:t>
              </a:r>
              <a:endParaRPr b="1" sz="1800">
                <a:solidFill>
                  <a:schemeClr val="dk1"/>
                </a:solidFill>
              </a:endParaRPr>
            </a:p>
          </p:txBody>
        </p:sp>
      </p:grpSp>
      <p:sp>
        <p:nvSpPr>
          <p:cNvPr id="365" name="Google Shape;365;p38"/>
          <p:cNvSpPr/>
          <p:nvPr/>
        </p:nvSpPr>
        <p:spPr>
          <a:xfrm>
            <a:off x="635325" y="1193425"/>
            <a:ext cx="7746300" cy="151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8"/>
          <p:cNvSpPr txBox="1"/>
          <p:nvPr/>
        </p:nvSpPr>
        <p:spPr>
          <a:xfrm>
            <a:off x="313950" y="313675"/>
            <a:ext cx="8344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latin typeface="Public Sans"/>
                <a:ea typeface="Public Sans"/>
                <a:cs typeface="Public Sans"/>
                <a:sym typeface="Public Sans"/>
              </a:rPr>
              <a:t>Interpretation of Results</a:t>
            </a:r>
            <a:endParaRPr sz="56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38"/>
          <p:cNvSpPr txBox="1"/>
          <p:nvPr/>
        </p:nvSpPr>
        <p:spPr>
          <a:xfrm>
            <a:off x="3438200" y="2809850"/>
            <a:ext cx="2388000" cy="67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Intercept = 9911.34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Slope = 386.04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/>
          <p:nvPr/>
        </p:nvSpPr>
        <p:spPr>
          <a:xfrm>
            <a:off x="140675" y="125050"/>
            <a:ext cx="8854800" cy="4861200"/>
          </a:xfrm>
          <a:prstGeom prst="roundRect">
            <a:avLst>
              <a:gd fmla="val 16667" name="adj"/>
            </a:avLst>
          </a:prstGeom>
          <a:solidFill>
            <a:srgbClr val="4B9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140675" y="125050"/>
            <a:ext cx="8315700" cy="48612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140675" y="125050"/>
            <a:ext cx="7713900" cy="4861200"/>
          </a:xfrm>
          <a:prstGeom prst="roundRect">
            <a:avLst>
              <a:gd fmla="val 16667" name="adj"/>
            </a:avLst>
          </a:prstGeom>
          <a:solidFill>
            <a:srgbClr val="DAFE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9"/>
          <p:cNvSpPr txBox="1"/>
          <p:nvPr/>
        </p:nvSpPr>
        <p:spPr>
          <a:xfrm>
            <a:off x="374200" y="1768475"/>
            <a:ext cx="6909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  <a:endParaRPr sz="33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6" name="Google Shape;376;p39"/>
          <p:cNvSpPr txBox="1"/>
          <p:nvPr/>
        </p:nvSpPr>
        <p:spPr>
          <a:xfrm>
            <a:off x="563575" y="2936875"/>
            <a:ext cx="69057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Prices don’t have a large correlation to the change in Gasoline Consumption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/>
          <p:nvPr/>
        </p:nvSpPr>
        <p:spPr>
          <a:xfrm>
            <a:off x="140675" y="125050"/>
            <a:ext cx="8868300" cy="4861200"/>
          </a:xfrm>
          <a:prstGeom prst="roundRect">
            <a:avLst>
              <a:gd fmla="val 16667" name="adj"/>
            </a:avLst>
          </a:prstGeom>
          <a:solidFill>
            <a:srgbClr val="A0C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83" name="Google Shape;38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Vehicle Registration Trends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Total registration (up? </a:t>
            </a: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own? 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onsistent? random?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Do EV’s replace combustion vehicles over time?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Different</a:t>
            </a:r>
            <a:r>
              <a:rPr lang="en">
                <a:solidFill>
                  <a:schemeClr val="dk1"/>
                </a:solidFill>
              </a:rPr>
              <a:t> Models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Multiple Linear Regression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Segmented Regression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ARIMA (Time-Series)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Global Events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Compare effects of Global Events to the </a:t>
            </a:r>
            <a:r>
              <a:rPr lang="en">
                <a:solidFill>
                  <a:schemeClr val="dk1"/>
                </a:solidFill>
              </a:rPr>
              <a:t>change</a:t>
            </a:r>
            <a:r>
              <a:rPr lang="en">
                <a:solidFill>
                  <a:schemeClr val="dk1"/>
                </a:solidFill>
              </a:rPr>
              <a:t> in prices and </a:t>
            </a:r>
            <a:r>
              <a:rPr lang="en">
                <a:solidFill>
                  <a:schemeClr val="dk1"/>
                </a:solidFill>
              </a:rPr>
              <a:t>consumption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/>
          <p:nvPr/>
        </p:nvSpPr>
        <p:spPr>
          <a:xfrm>
            <a:off x="61325" y="93300"/>
            <a:ext cx="8995500" cy="49788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1"/>
          <p:cNvSpPr txBox="1"/>
          <p:nvPr/>
        </p:nvSpPr>
        <p:spPr>
          <a:xfrm>
            <a:off x="331245" y="301625"/>
            <a:ext cx="21294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Citations</a:t>
            </a:r>
            <a:endParaRPr sz="36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428625" y="968375"/>
            <a:ext cx="78423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Energy Information Administration. (n.d.).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Product Supplied of Finished Motor Gasoline (Thousand Barrels per Day)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[Data set]. U.S. Department of Energy. Retrieved October 26, 2025, from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https://www.eia.gov/dnav/pet/pet_cons_psup_a_epm0f_vpp_mbbl_m.htm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Energy Information Administration. (n.d.).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All Grades All Formulations Retail Gasoline Prices (Dollars per Gallon)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[Data set]. U.S. Department of Energy. Retrieved October 26, 2025, from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</a:t>
            </a:r>
            <a:r>
              <a:rPr b="1"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ttps://www.eia.gov/dnav/pet/pet_pri_gnd_dcus_nus_m.htm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Bureau of Labor Statistics. (n.d.).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Price Index for All Urban Consumers: All Items (CPIAUCSL)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[Data set]. Federal Reserve Bank of St. Louis. Retrieved October 26, 2025, from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https://fred.stlouisfed.org/series/CPIAUCSL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Investopedia. (n.d.).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Inelastic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October 26, 2025, from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https://www.investopedia.com/terms/e/inelastic.asp</a:t>
            </a:r>
            <a:endParaRPr b="1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OpenAI. (2025).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 (GPT-5)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[Large language model]. Retrieved November 12, 2025, from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https://chat.openai.com/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Peer Review Feedback </a:t>
            </a:r>
            <a:r>
              <a:rPr lang="en">
                <a:solidFill>
                  <a:schemeClr val="lt1"/>
                </a:solidFill>
              </a:rPr>
              <a:t>Received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FFFFFF"/>
                </a:solidFill>
              </a:rPr>
              <a:t>Time issues (8 mins)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FFFFFF"/>
                </a:solidFill>
              </a:rPr>
              <a:t>Why do prices and consumption change?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">
                <a:solidFill>
                  <a:srgbClr val="FFFFFF"/>
                </a:solidFill>
              </a:rPr>
              <a:t>EV’s, political reasons, global events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FFFFFF"/>
                </a:solidFill>
              </a:rPr>
              <a:t>Gasoline is always needed for cars, what’s the conclusion?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en">
                <a:solidFill>
                  <a:srgbClr val="FFFFFF"/>
                </a:solidFill>
              </a:rPr>
              <a:t>Global events are larger drivers in change of consumption than price 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n">
                <a:solidFill>
                  <a:srgbClr val="FFFFFF"/>
                </a:solidFill>
              </a:rPr>
              <a:t>Change the conclusion to include future ideas or new </a:t>
            </a:r>
            <a:r>
              <a:rPr lang="en">
                <a:solidFill>
                  <a:srgbClr val="FFFFFF"/>
                </a:solidFill>
              </a:rPr>
              <a:t>questions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